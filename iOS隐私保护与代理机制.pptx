
<file path=[Content_Types].xml><?xml version="1.0" encoding="utf-8"?>
<Types xmlns="http://schemas.openxmlformats.org/package/2006/content-types"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4">
            <a:extLst>
              <a:ext uri="{FF2B5EF4-FFF2-40B4-BE49-F238E27FC236}">
                <a16:creationId xmlns:a16="http://schemas.microsoft.com/office/drawing/2014/main" id="{51D39E70-62BB-495F-91B8-203ED5041889}"/>
              </a:ext>
            </a:extLst>
          </p:cNvPr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4A90D9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463AEC9-029A-4E05-BEA4-438E7C28B19D}"/>
              </a:ext>
            </a:extLst>
          </p:cNvPr>
          <p:cNvSpPr/>
          <p:nvPr/>
        </p:nvSpPr>
        <p:spPr>
          <a:xfrm>
            <a:off x="10001250" y="4762500"/>
            <a:ext cx="1905000" cy="1905000"/>
          </a:xfrm>
          <a:prstGeom prst="hexagon">
            <a:avLst/>
          </a:prstGeom>
          <a:solidFill>
            <a:srgbClr val="4A90D9">
              <a:alpha val="8235"/>
            </a:srgbClr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7B67B402-BDFA-4434-91BC-D4F0921D5A18}"/>
              </a:ext>
            </a:extLst>
          </p:cNvPr>
          <p:cNvSpPr/>
          <p:nvPr/>
        </p:nvSpPr>
        <p:spPr>
          <a:xfrm>
            <a:off x="762000" y="5238750"/>
            <a:ext cx="1428750" cy="1428750"/>
          </a:xfrm>
          <a:prstGeom prst="hexagon">
            <a:avLst/>
          </a:prstGeom>
          <a:solidFill>
            <a:srgbClr val="00D9A3">
              <a:alpha val="6275"/>
            </a:srgbClr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30C06AF2-F95C-4606-A8E9-548FB9D0B1DD}"/>
              </a:ext>
            </a:extLst>
          </p:cNvPr>
          <p:cNvSpPr/>
          <p:nvPr/>
        </p:nvSpPr>
        <p:spPr>
          <a:xfrm>
            <a:off x="2286000" y="1905000"/>
            <a:ext cx="7620000" cy="2667000"/>
          </a:xfrm>
          <a:prstGeom prst="roundRect">
            <a:avLst/>
          </a:prstGeom>
          <a:solidFill>
            <a:srgbClr val="132F4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6C565309-9DA2-49D1-8ED4-F11F8D719897}"/>
              </a:ext>
            </a:extLst>
          </p:cNvPr>
          <p:cNvSpPr txBox="1"/>
          <p:nvPr/>
        </p:nvSpPr>
        <p:spPr>
          <a:xfrm>
            <a:off x="2476500" y="2286000"/>
            <a:ext cx="7239000" cy="1432560"/>
          </a:xfrm>
        </p:spPr>
        <p:txBody>
          <a:bodyPr wrap="square" rtlCol="0" lIns="0" tIns="0" rIns="0" bIns="0" anchor="t"/>
          <a:lstStyle/>
          <a:p>
            <a:pPr algn="ctr">
              <a:spcAft>
                <a:spcPts val="1200"/>
              </a:spcAft>
            </a:pPr>
            <a:r>
              <a:rPr sz="4200" b="1">
                <a:solidFill>
                  <a:srgbClr val="FFFFFF"/>
                </a:solidFill>
                <a:latin typeface="PingFang SC"/>
                <a:ea typeface="PingFang SC"/>
              </a:rPr>
              <a:t>iOS 隐私保护</a:t>
            </a:r>
          </a:p>
          <a:p>
            <a:pPr algn="ctr">
              <a:spcAft>
                <a:spcPts val="0"/>
              </a:spcAft>
            </a:pPr>
            <a:r>
              <a:rPr sz="4200" b="1">
                <a:solidFill>
                  <a:srgbClr val="4A90D9"/>
                </a:solidFill>
                <a:latin typeface="PingFang SC"/>
                <a:ea typeface="PingFang SC"/>
              </a:rPr>
              <a:t>与代理机制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EF06310A-1892-4813-89CD-837A3E82E79D}"/>
              </a:ext>
            </a:extLst>
          </p:cNvPr>
          <p:cNvSpPr txBox="1"/>
          <p:nvPr/>
        </p:nvSpPr>
        <p:spPr>
          <a:xfrm>
            <a:off x="3238500" y="3619500"/>
            <a:ext cx="5715000" cy="381000"/>
          </a:xfrm>
        </p:spPr>
        <p:txBody>
          <a:bodyPr wrap="square" rtlCol="0" lIns="0" tIns="0" rIns="0" bIns="0" anchor="t"/>
          <a:lstStyle/>
          <a:p>
            <a:pPr algn="ctr">
              <a:spcAft>
                <a:spcPts val="0"/>
              </a:spcAft>
            </a:pPr>
            <a:r>
              <a:rPr sz="1600">
                <a:solidFill>
                  <a:srgbClr val="B0BEC5"/>
                </a:solidFill>
                <a:latin typeface="PingFang SC"/>
                <a:ea typeface="PingFang SC"/>
              </a:rPr>
              <a:t>权限管理 · 数据保护 · 网络代理 · 追踪防护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27D03835-E0D1-48F5-8BC2-6069C46BF4B4}"/>
              </a:ext>
            </a:extLst>
          </p:cNvPr>
          <p:cNvSpPr txBox="1"/>
          <p:nvPr/>
        </p:nvSpPr>
        <p:spPr>
          <a:xfrm>
            <a:off x="4191000" y="5334000"/>
            <a:ext cx="3810000" cy="285750"/>
          </a:xfrm>
        </p:spPr>
        <p:txBody>
          <a:bodyPr wrap="square" rtlCol="0" lIns="0" tIns="0" rIns="0" bIns="0" anchor="t"/>
          <a:lstStyle/>
          <a:p>
            <a:pPr algn="ctr">
              <a:spcAft>
                <a:spcPts val="0"/>
              </a:spcAft>
            </a:pPr>
            <a:r>
              <a:rPr sz="1300">
                <a:solidFill>
                  <a:srgbClr val="607D8B"/>
                </a:solidFill>
                <a:latin typeface="PingFang SC"/>
                <a:ea typeface="PingFang SC"/>
              </a:rPr>
              <a:t>iOS Security Analysis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76257F4C-E8FD-4685-888F-38DEFD6E9B40}"/>
              </a:ext>
            </a:extLst>
          </p:cNvPr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4A90D9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5D470242-955B-41F1-A3C6-F906D81500EA}"/>
              </a:ext>
            </a:extLst>
          </p:cNvPr>
          <p:cNvSpPr/>
          <p:nvPr/>
        </p:nvSpPr>
        <p:spPr>
          <a:xfrm>
            <a:off x="476250" y="762000"/>
            <a:ext cx="5334000" cy="552450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4A90D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20E77E02-EAC6-404C-A53F-02BAE0A0191A}"/>
              </a:ext>
            </a:extLst>
          </p:cNvPr>
          <p:cNvSpPr txBox="1"/>
          <p:nvPr/>
        </p:nvSpPr>
        <p:spPr>
          <a:xfrm>
            <a:off x="666750" y="904875"/>
            <a:ext cx="4953000" cy="426720"/>
          </a:xfrm>
        </p:spPr>
        <p:txBody>
          <a:bodyPr wrap="square" rtlCol="0" lIns="0" tIns="0" rIns="0" bIns="0" anchor="t"/>
          <a:lstStyle/>
          <a:p>
            <a:pPr algn="l"/>
            <a:r>
              <a:rPr sz="2800" b="1">
                <a:solidFill>
                  <a:srgbClr val="4A90D9"/>
                </a:solidFill>
                <a:latin typeface="PingFang SC"/>
                <a:ea typeface="PingFang SC"/>
              </a:rPr>
              <a:t>iOS 隐私保护架构概览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A3BC270C-D043-436D-B05E-420590DE7BEF}"/>
              </a:ext>
            </a:extLst>
          </p:cNvPr>
          <p:cNvSpPr txBox="1"/>
          <p:nvPr/>
        </p:nvSpPr>
        <p:spPr>
          <a:xfrm>
            <a:off x="666750" y="1428750"/>
            <a:ext cx="4953000" cy="457200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00D9A3"/>
                </a:solidFill>
                <a:latin typeface="PingFang SC"/>
                <a:ea typeface="PingFang SC"/>
              </a:rPr>
              <a:t>TCC 框架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透明度、同意与控制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00D9A3"/>
                </a:solidFill>
                <a:latin typeface="PingFang SC"/>
                <a:ea typeface="PingFang SC"/>
              </a:rPr>
              <a:t>分层权限模型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用户授权 → 系统执行 → 应用遵守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00D9A3"/>
                </a:solidFill>
                <a:latin typeface="PingFang SC"/>
                <a:ea typeface="PingFang SC"/>
              </a:rPr>
              <a:t>数据分类保护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个人数据 · 敏感数据 · 健康数据 · 财务数据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00D9A3"/>
                </a:solidFill>
                <a:latin typeface="PingFang SC"/>
                <a:ea typeface="PingFang SC"/>
              </a:rPr>
              <a:t>Privacy Report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可视化应用权限使用情况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B423363-FAFD-4AB1-848A-89A132C8BF8F}"/>
              </a:ext>
            </a:extLst>
          </p:cNvPr>
          <p:cNvSpPr/>
          <p:nvPr/>
        </p:nvSpPr>
        <p:spPr>
          <a:xfrm>
            <a:off x="6191250" y="762000"/>
            <a:ext cx="5334000" cy="552450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00D9A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C93B1BD-42A2-48DB-AE20-B539051EAD21}"/>
              </a:ext>
            </a:extLst>
          </p:cNvPr>
          <p:cNvSpPr txBox="1"/>
          <p:nvPr/>
        </p:nvSpPr>
        <p:spPr>
          <a:xfrm>
            <a:off x="6381750" y="952500"/>
            <a:ext cx="4953000" cy="304800"/>
          </a:xfrm>
        </p:spPr>
        <p:txBody>
          <a:bodyPr wrap="square" rtlCol="0" lIns="0" tIns="0" rIns="0" bIns="0" anchor="t"/>
          <a:lstStyle/>
          <a:p>
            <a:pPr algn="l"/>
            <a:r>
              <a:rPr sz="2000" b="1">
                <a:solidFill>
                  <a:srgbClr val="00D9A3"/>
                </a:solidFill>
                <a:latin typeface="PingFang SC"/>
                <a:ea typeface="PingFang SC"/>
              </a:rPr>
              <a:t>核心架构组件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CB827CAA-9297-4E50-A49C-22687DF4FD1E}"/>
              </a:ext>
            </a:extLst>
          </p:cNvPr>
          <p:cNvSpPr txBox="1"/>
          <p:nvPr/>
        </p:nvSpPr>
        <p:spPr>
          <a:xfrm>
            <a:off x="6381750" y="1428750"/>
            <a:ext cx="4953000" cy="457200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1200"/>
              </a:spcAft>
            </a:pPr>
            <a:r>
              <a:rPr sz="1500">
                <a:solidFill>
                  <a:srgbClr val="E8E8E8"/>
                </a:solidFill>
                <a:latin typeface="PingFang SC"/>
                <a:ea typeface="PingFang SC"/>
              </a:rPr>
              <a:t>应用层 → 权限请求</a:t>
            </a:r>
          </a:p>
          <a:p>
            <a:pPr algn="l">
              <a:spcAft>
                <a:spcPts val="1200"/>
              </a:spcAft>
            </a:pPr>
            <a:r>
              <a:rPr sz="1500">
                <a:solidFill>
                  <a:srgbClr val="E8E8E8"/>
                </a:solidFill>
                <a:latin typeface="PingFang SC"/>
                <a:ea typeface="PingFang SC"/>
              </a:rPr>
              <a:t>系统层 → TCC 守护进程</a:t>
            </a:r>
          </a:p>
          <a:p>
            <a:pPr algn="l">
              <a:spcAft>
                <a:spcPts val="1200"/>
              </a:spcAft>
            </a:pPr>
            <a:r>
              <a:rPr sz="1500">
                <a:solidFill>
                  <a:srgbClr val="E8E8E8"/>
                </a:solidFill>
                <a:latin typeface="PingFang SC"/>
                <a:ea typeface="PingFang SC"/>
              </a:rPr>
              <a:t>硬件层 → Secure Enclave</a:t>
            </a:r>
          </a:p>
          <a:p>
            <a:pPr algn="l">
              <a:spcAft>
                <a:spcPts val="1200"/>
              </a:spcAft>
            </a:pPr>
            <a:r>
              <a:rPr sz="1500">
                <a:solidFill>
                  <a:srgbClr val="E8E8E8"/>
                </a:solidFill>
                <a:latin typeface="PingFang SC"/>
                <a:ea typeface="PingFang SC"/>
              </a:rPr>
              <a:t>网络层 → Network Extension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348AB6A4-9337-405F-AB36-112714DB7B7A}"/>
              </a:ext>
            </a:extLst>
          </p:cNvPr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4A90D9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EBACEF0-518A-4314-9C9A-6019FA40759D}"/>
              </a:ext>
            </a:extLst>
          </p:cNvPr>
          <p:cNvSpPr txBox="1"/>
          <p:nvPr/>
        </p:nvSpPr>
        <p:spPr>
          <a:xfrm>
            <a:off x="762000" y="285750"/>
            <a:ext cx="5715000" cy="487680"/>
          </a:xfrm>
        </p:spPr>
        <p:txBody>
          <a:bodyPr wrap="square" rtlCol="0" lIns="0" tIns="0" rIns="0" bIns="0" anchor="t"/>
          <a:lstStyle/>
          <a:p>
            <a:pPr algn="l"/>
            <a:r>
              <a:rPr sz="3200" b="1">
                <a:solidFill>
                  <a:srgbClr val="4A90D9"/>
                </a:solidFill>
                <a:latin typeface="PingFang SC"/>
                <a:ea typeface="PingFang SC"/>
              </a:rPr>
              <a:t>应用权限管理机制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8CE3AF86-7D3E-4167-B4BC-288691BED4E9}"/>
              </a:ext>
            </a:extLst>
          </p:cNvPr>
          <p:cNvSpPr/>
          <p:nvPr/>
        </p:nvSpPr>
        <p:spPr>
          <a:xfrm>
            <a:off x="476250" y="952500"/>
            <a:ext cx="3429000" cy="247650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4A90D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4BFBA323-1C76-4CAD-AE3E-975885B3AECF}"/>
              </a:ext>
            </a:extLst>
          </p:cNvPr>
          <p:cNvSpPr txBox="1"/>
          <p:nvPr/>
        </p:nvSpPr>
        <p:spPr>
          <a:xfrm>
            <a:off x="666750" y="1095375"/>
            <a:ext cx="3048000" cy="21907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00D9A3"/>
                </a:solidFill>
                <a:latin typeface="PingFang SC"/>
                <a:ea typeface="PingFang SC"/>
              </a:rPr>
              <a:t>TCC 数据库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记录每个应用的权限授予状态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系统级守护进程 tccd 管理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SQLite 存储，硬件加密保护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22C8450D-FFAE-4532-9D4E-6F6D8D237AC8}"/>
              </a:ext>
            </a:extLst>
          </p:cNvPr>
          <p:cNvSpPr/>
          <p:nvPr/>
        </p:nvSpPr>
        <p:spPr>
          <a:xfrm>
            <a:off x="4381500" y="952500"/>
            <a:ext cx="3429000" cy="247650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4A90D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A8F46B2-FBE2-4480-B653-C7B22A92A46E}"/>
              </a:ext>
            </a:extLst>
          </p:cNvPr>
          <p:cNvSpPr txBox="1"/>
          <p:nvPr/>
        </p:nvSpPr>
        <p:spPr>
          <a:xfrm>
            <a:off x="4572000" y="1095375"/>
            <a:ext cx="3048000" cy="21907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00D9A3"/>
                </a:solidFill>
                <a:latin typeface="PingFang SC"/>
                <a:ea typeface="PingFang SC"/>
              </a:rPr>
              <a:t>权限弹窗策略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首次请求 → 用户决策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可随时在设置中撤回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系统弹窗明确说明用途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456B1A19-EFC4-4D2B-84A8-E10E9D03F93B}"/>
              </a:ext>
            </a:extLst>
          </p:cNvPr>
          <p:cNvSpPr/>
          <p:nvPr/>
        </p:nvSpPr>
        <p:spPr>
          <a:xfrm>
            <a:off x="8286750" y="952500"/>
            <a:ext cx="3429000" cy="247650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4A90D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608ED63D-C82C-4710-9E29-CA0CA1012539}"/>
              </a:ext>
            </a:extLst>
          </p:cNvPr>
          <p:cNvSpPr txBox="1"/>
          <p:nvPr/>
        </p:nvSpPr>
        <p:spPr>
          <a:xfrm>
            <a:off x="8477250" y="1095375"/>
            <a:ext cx="3048000" cy="21907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00D9A3"/>
                </a:solidFill>
                <a:latin typeface="PingFang SC"/>
                <a:ea typeface="PingFang SC"/>
              </a:rPr>
              <a:t>分级授权模式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始终允许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仅使用时允许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每次询问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463A9EBB-11C0-406F-A0F9-81D350F841C7}"/>
              </a:ext>
            </a:extLst>
          </p:cNvPr>
          <p:cNvSpPr/>
          <p:nvPr/>
        </p:nvSpPr>
        <p:spPr>
          <a:xfrm>
            <a:off x="476250" y="3810000"/>
            <a:ext cx="11239500" cy="228600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00D9A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1A2CA63-B9C4-4C95-8927-88C8A23268C1}"/>
              </a:ext>
            </a:extLst>
          </p:cNvPr>
          <p:cNvSpPr txBox="1"/>
          <p:nvPr/>
        </p:nvSpPr>
        <p:spPr>
          <a:xfrm>
            <a:off x="666750" y="3952875"/>
            <a:ext cx="10858500" cy="20002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00D9A3"/>
                </a:solidFill>
                <a:latin typeface="PingFang SC"/>
                <a:ea typeface="PingFang SC"/>
              </a:rPr>
              <a:t>权限自动回收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长期未使用的应用自动回收已授予权限，减少休眠应用的数据访问风险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用户可在 设置 → 隐私与安全 → 权限管理 中查看和修改所有应用的权限状态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iOS 16+ 支持一次性授权，应用下次启动需重新请求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BB85BEC7-970C-46F4-A85F-479B7EEF8F53}"/>
              </a:ext>
            </a:extLst>
          </p:cNvPr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4A90D9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5431A322-AA47-4073-8C87-6365373F2DC5}"/>
              </a:ext>
            </a:extLst>
          </p:cNvPr>
          <p:cNvSpPr txBox="1"/>
          <p:nvPr/>
        </p:nvSpPr>
        <p:spPr>
          <a:xfrm>
            <a:off x="762000" y="285750"/>
            <a:ext cx="5715000" cy="487680"/>
          </a:xfrm>
        </p:spPr>
        <p:txBody>
          <a:bodyPr wrap="square" rtlCol="0" lIns="0" tIns="0" rIns="0" bIns="0" anchor="t"/>
          <a:lstStyle/>
          <a:p>
            <a:pPr algn="l"/>
            <a:r>
              <a:rPr sz="3200" b="1">
                <a:solidFill>
                  <a:srgbClr val="4A90D9"/>
                </a:solidFill>
                <a:latin typeface="PingFang SC"/>
                <a:ea typeface="PingFang SC"/>
              </a:rPr>
              <a:t>数据保护与加密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6141B72-97F0-476C-BED8-599AB858B435}"/>
              </a:ext>
            </a:extLst>
          </p:cNvPr>
          <p:cNvSpPr/>
          <p:nvPr/>
        </p:nvSpPr>
        <p:spPr>
          <a:xfrm>
            <a:off x="476250" y="952500"/>
            <a:ext cx="5334000" cy="266700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4A90D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E5571DCC-5B1E-4483-8B1A-35692C361059}"/>
              </a:ext>
            </a:extLst>
          </p:cNvPr>
          <p:cNvSpPr txBox="1"/>
          <p:nvPr/>
        </p:nvSpPr>
        <p:spPr>
          <a:xfrm>
            <a:off x="666750" y="1095375"/>
            <a:ext cx="4953000" cy="23812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00D9A3"/>
                </a:solidFill>
                <a:latin typeface="PingFang SC"/>
                <a:ea typeface="PingFang SC"/>
              </a:rPr>
              <a:t>Data Protection Classes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Complete Protection — 锁屏后不可访问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Unless Open — 文件打开期间可继续写入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Until First Auth — 开机解锁后一直可访问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Complete Until First Auth — 结合两者特性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8DE62C11-2C6E-4B04-A1C0-900B3CEBF2E8}"/>
              </a:ext>
            </a:extLst>
          </p:cNvPr>
          <p:cNvSpPr/>
          <p:nvPr/>
        </p:nvSpPr>
        <p:spPr>
          <a:xfrm>
            <a:off x="6381750" y="952500"/>
            <a:ext cx="5334000" cy="266700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4A90D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98B18D20-E9EA-4A5A-BCA0-56F668254C3B}"/>
              </a:ext>
            </a:extLst>
          </p:cNvPr>
          <p:cNvSpPr txBox="1"/>
          <p:nvPr/>
        </p:nvSpPr>
        <p:spPr>
          <a:xfrm>
            <a:off x="6572250" y="1095375"/>
            <a:ext cx="4953000" cy="23812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00D9A3"/>
                </a:solidFill>
                <a:latin typeface="PingFang SC"/>
                <a:ea typeface="PingFang SC"/>
              </a:rPr>
              <a:t>Keychain Services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硬件级密钥与凭证存储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访问控制列表精细管理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支持密码、密钥、证书和令牌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跨设备同步通过 iCloud Keychain 加密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7C6D91EA-98D0-4DD7-8983-743D0FCC2203}"/>
              </a:ext>
            </a:extLst>
          </p:cNvPr>
          <p:cNvSpPr/>
          <p:nvPr/>
        </p:nvSpPr>
        <p:spPr>
          <a:xfrm>
            <a:off x="476250" y="4000500"/>
            <a:ext cx="5334000" cy="228600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00D9A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77AE0D7-9FAF-49BF-8C27-DC47F579E35E}"/>
              </a:ext>
            </a:extLst>
          </p:cNvPr>
          <p:cNvSpPr txBox="1"/>
          <p:nvPr/>
        </p:nvSpPr>
        <p:spPr>
          <a:xfrm>
            <a:off x="666750" y="4143375"/>
            <a:ext cx="4953000" cy="20002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00D9A3"/>
                </a:solidFill>
                <a:latin typeface="PingFang SC"/>
                <a:ea typeface="PingFang SC"/>
              </a:rPr>
              <a:t>Secure Enclave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独立安全协处理器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RSA / ECC 密钥运算在芯片内完成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主系统无法直接读取密钥材料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B55AAF96-1D59-4CE3-991D-758E94F0CB6D}"/>
              </a:ext>
            </a:extLst>
          </p:cNvPr>
          <p:cNvSpPr/>
          <p:nvPr/>
        </p:nvSpPr>
        <p:spPr>
          <a:xfrm>
            <a:off x="6381750" y="4000500"/>
            <a:ext cx="5334000" cy="228600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00D9A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65D4603-445F-4B2E-8512-30E609A5F1C5}"/>
              </a:ext>
            </a:extLst>
          </p:cNvPr>
          <p:cNvSpPr txBox="1"/>
          <p:nvPr/>
        </p:nvSpPr>
        <p:spPr>
          <a:xfrm>
            <a:off x="6572250" y="4143375"/>
            <a:ext cx="4953000" cy="20002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00D9A3"/>
                </a:solidFill>
                <a:latin typeface="PingFang SC"/>
                <a:ea typeface="PingFang SC"/>
              </a:rPr>
              <a:t>设备端加密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Passcode 派生主加密密钥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UID 绑定硬件，无法提取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暴力破解需物理访问 + 无限时间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F60E35DC-4188-4D4D-81D8-3B87A6FD8BAB}"/>
              </a:ext>
            </a:extLst>
          </p:cNvPr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4A90D9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9C31090C-EA7D-41B9-8654-12DB454D534F}"/>
              </a:ext>
            </a:extLst>
          </p:cNvPr>
          <p:cNvSpPr txBox="1"/>
          <p:nvPr/>
        </p:nvSpPr>
        <p:spPr>
          <a:xfrm>
            <a:off x="762000" y="285750"/>
            <a:ext cx="6667500" cy="487680"/>
          </a:xfrm>
        </p:spPr>
        <p:txBody>
          <a:bodyPr wrap="square" rtlCol="0" lIns="0" tIns="0" rIns="0" bIns="0" anchor="t"/>
          <a:lstStyle/>
          <a:p>
            <a:pPr algn="l"/>
            <a:r>
              <a:rPr sz="3200" b="1">
                <a:solidFill>
                  <a:srgbClr val="4A90D9"/>
                </a:solidFill>
                <a:latin typeface="PingFang SC"/>
                <a:ea typeface="PingFang SC"/>
              </a:rPr>
              <a:t>广告追踪与隐私控制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360D3B36-FE9A-4530-99F6-F77F00B88160}"/>
              </a:ext>
            </a:extLst>
          </p:cNvPr>
          <p:cNvSpPr/>
          <p:nvPr/>
        </p:nvSpPr>
        <p:spPr>
          <a:xfrm>
            <a:off x="476250" y="952500"/>
            <a:ext cx="3429000" cy="247650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4A90D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5E974B9-4BD3-4F47-BE31-35326870C801}"/>
              </a:ext>
            </a:extLst>
          </p:cNvPr>
          <p:cNvSpPr txBox="1"/>
          <p:nvPr/>
        </p:nvSpPr>
        <p:spPr>
          <a:xfrm>
            <a:off x="666750" y="1095375"/>
            <a:ext cx="3048000" cy="21907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00D9A3"/>
                </a:solidFill>
                <a:latin typeface="PingFang SC"/>
                <a:ea typeface="PingFang SC"/>
              </a:rPr>
              <a:t>ATT 框架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App Tracking Transparency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强制弹窗征求用户同意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拒绝后应用无法获取追踪权限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76CA5FF-E894-4408-BD7B-6DE58130EF8B}"/>
              </a:ext>
            </a:extLst>
          </p:cNvPr>
          <p:cNvSpPr/>
          <p:nvPr/>
        </p:nvSpPr>
        <p:spPr>
          <a:xfrm>
            <a:off x="4381500" y="952500"/>
            <a:ext cx="3429000" cy="247650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4A90D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F71EB48F-35AC-4EF3-BCE6-12ED0739A259}"/>
              </a:ext>
            </a:extLst>
          </p:cNvPr>
          <p:cNvSpPr txBox="1"/>
          <p:nvPr/>
        </p:nvSpPr>
        <p:spPr>
          <a:xfrm>
            <a:off x="4572000" y="1095375"/>
            <a:ext cx="3048000" cy="21907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00D9A3"/>
                </a:solidFill>
                <a:latin typeface="PingFang SC"/>
                <a:ea typeface="PingFang SC"/>
              </a:rPr>
              <a:t>IDFA 归零化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默认禁用广告标识符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返回全零值 00000000-...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跨应用广告关联被切断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85FC530D-B870-42A3-AAF4-1187590168D6}"/>
              </a:ext>
            </a:extLst>
          </p:cNvPr>
          <p:cNvSpPr/>
          <p:nvPr/>
        </p:nvSpPr>
        <p:spPr>
          <a:xfrm>
            <a:off x="8286750" y="952500"/>
            <a:ext cx="3429000" cy="247650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4A90D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D7449A33-CB65-4EA5-A23A-60046CEF6B5C}"/>
              </a:ext>
            </a:extLst>
          </p:cNvPr>
          <p:cNvSpPr txBox="1"/>
          <p:nvPr/>
        </p:nvSpPr>
        <p:spPr>
          <a:xfrm>
            <a:off x="8477250" y="1095375"/>
            <a:ext cx="3048000" cy="21907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00D9A3"/>
                </a:solidFill>
                <a:latin typeface="PingFang SC"/>
                <a:ea typeface="PingFang SC"/>
              </a:rPr>
              <a:t>SKAdNetwork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隐私友好的广告归因方案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服务端回调，不暴露用户身份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延迟报告防止实时追踪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51FE13F5-601A-456C-92FE-E84BD13CB2FC}"/>
              </a:ext>
            </a:extLst>
          </p:cNvPr>
          <p:cNvSpPr/>
          <p:nvPr/>
        </p:nvSpPr>
        <p:spPr>
          <a:xfrm>
            <a:off x="476250" y="3810000"/>
            <a:ext cx="11239500" cy="228600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00D9A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E8D686D-A5A9-4194-A877-0CA4DF761050}"/>
              </a:ext>
            </a:extLst>
          </p:cNvPr>
          <p:cNvSpPr txBox="1"/>
          <p:nvPr/>
        </p:nvSpPr>
        <p:spPr>
          <a:xfrm>
            <a:off x="666750" y="3952875"/>
            <a:ext cx="10858500" cy="20002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00D9A3"/>
                </a:solidFill>
                <a:latin typeface="PingFang SC"/>
                <a:ea typeface="PingFang SC"/>
              </a:rPr>
              <a:t>隐私营养标签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App Store 强制披露应用的数据收集行为，类似食品营养标签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用户可在下载前了解应用收集哪些数据、是否用于追踪、是否与第三方共享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C56DAFC6-F4CC-4434-8FA6-0BD721C6C029}"/>
              </a:ext>
            </a:extLst>
          </p:cNvPr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4A90D9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9F08C24A-8D0F-4C03-A4A1-984C30120AC0}"/>
              </a:ext>
            </a:extLst>
          </p:cNvPr>
          <p:cNvSpPr txBox="1"/>
          <p:nvPr/>
        </p:nvSpPr>
        <p:spPr>
          <a:xfrm>
            <a:off x="762000" y="285750"/>
            <a:ext cx="5715000" cy="487680"/>
          </a:xfrm>
        </p:spPr>
        <p:txBody>
          <a:bodyPr wrap="square" rtlCol="0" lIns="0" tIns="0" rIns="0" bIns="0" anchor="t"/>
          <a:lstStyle/>
          <a:p>
            <a:pPr algn="l"/>
            <a:r>
              <a:rPr sz="3200" b="1">
                <a:solidFill>
                  <a:srgbClr val="4A90D9"/>
                </a:solidFill>
                <a:latin typeface="PingFang SC"/>
                <a:ea typeface="PingFang SC"/>
              </a:rPr>
              <a:t>网络代理与 VPN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1F3F1B40-57F9-41C0-816A-53DA9E88A553}"/>
              </a:ext>
            </a:extLst>
          </p:cNvPr>
          <p:cNvSpPr/>
          <p:nvPr/>
        </p:nvSpPr>
        <p:spPr>
          <a:xfrm>
            <a:off x="476250" y="952500"/>
            <a:ext cx="5334000" cy="247650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4A90D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C88512B8-9376-4C0D-BB2A-12D5B6CE71F8}"/>
              </a:ext>
            </a:extLst>
          </p:cNvPr>
          <p:cNvSpPr txBox="1"/>
          <p:nvPr/>
        </p:nvSpPr>
        <p:spPr>
          <a:xfrm>
            <a:off x="666750" y="1095375"/>
            <a:ext cx="4953000" cy="21907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00D9A3"/>
                </a:solidFill>
                <a:latin typeface="PingFang SC"/>
                <a:ea typeface="PingFang SC"/>
              </a:rPr>
              <a:t>Network Extension 框架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系统级网络流量控制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第三方 VPN 应用集成入口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支持 IPsec / IKEv2 / WireGuard 协议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7A9E9E3B-43F4-45D1-B3C8-80D7A66EA940}"/>
              </a:ext>
            </a:extLst>
          </p:cNvPr>
          <p:cNvSpPr/>
          <p:nvPr/>
        </p:nvSpPr>
        <p:spPr>
          <a:xfrm>
            <a:off x="6381750" y="952500"/>
            <a:ext cx="5334000" cy="247650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4A90D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8221308D-2A40-44DA-BAB7-CCD52EEB1731}"/>
              </a:ext>
            </a:extLst>
          </p:cNvPr>
          <p:cNvSpPr txBox="1"/>
          <p:nvPr/>
        </p:nvSpPr>
        <p:spPr>
          <a:xfrm>
            <a:off x="6572250" y="1095375"/>
            <a:ext cx="4953000" cy="21907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00D9A3"/>
                </a:solidFill>
                <a:latin typeface="PingFang SC"/>
                <a:ea typeface="PingFang SC"/>
              </a:rPr>
              <a:t>Packet Tunnel Provider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自定义 VPN 隧道协议实现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系统内核级数据包拦截与转发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支持 IPv4 / IPv6 双栈隧道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3913627F-EECD-4CF4-9D44-702B8FCE5D23}"/>
              </a:ext>
            </a:extLst>
          </p:cNvPr>
          <p:cNvSpPr/>
          <p:nvPr/>
        </p:nvSpPr>
        <p:spPr>
          <a:xfrm>
            <a:off x="476250" y="3810000"/>
            <a:ext cx="5334000" cy="247650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00D9A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4AE7B2FD-D148-4797-BB91-17A9C6567ECA}"/>
              </a:ext>
            </a:extLst>
          </p:cNvPr>
          <p:cNvSpPr txBox="1"/>
          <p:nvPr/>
        </p:nvSpPr>
        <p:spPr>
          <a:xfrm>
            <a:off x="666750" y="3952875"/>
            <a:ext cx="4953000" cy="21907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00D9A3"/>
                </a:solidFill>
                <a:latin typeface="PingFang SC"/>
                <a:ea typeface="PingFang SC"/>
              </a:rPr>
              <a:t>Always-On VPN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企业级强制 VPN 策略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用户无法手动关闭隧道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MDM 远程配置与强制执行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8B9BBC5D-2AD6-47CB-A76E-DE6622A200A0}"/>
              </a:ext>
            </a:extLst>
          </p:cNvPr>
          <p:cNvSpPr/>
          <p:nvPr/>
        </p:nvSpPr>
        <p:spPr>
          <a:xfrm>
            <a:off x="6381750" y="3810000"/>
            <a:ext cx="5334000" cy="247650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00D9A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709FA0CA-DE75-4D13-AE72-5DCBDAA0E7ED}"/>
              </a:ext>
            </a:extLst>
          </p:cNvPr>
          <p:cNvSpPr txBox="1"/>
          <p:nvPr/>
        </p:nvSpPr>
        <p:spPr>
          <a:xfrm>
            <a:off x="6572250" y="3952875"/>
            <a:ext cx="4953000" cy="21907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00D9A3"/>
                </a:solidFill>
                <a:latin typeface="PingFang SC"/>
                <a:ea typeface="PingFang SC"/>
              </a:rPr>
              <a:t>Content Filter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网络内容审查与拦截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域名过滤与恶意网站阻断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家长控制与企业合规场景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61232A46-3637-47F9-899D-E32C63F7BD79}"/>
              </a:ext>
            </a:extLst>
          </p:cNvPr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4A90D9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21529DF-514A-4818-923F-F7227AD09A6C}"/>
              </a:ext>
            </a:extLst>
          </p:cNvPr>
          <p:cNvSpPr txBox="1"/>
          <p:nvPr/>
        </p:nvSpPr>
        <p:spPr>
          <a:xfrm>
            <a:off x="762000" y="285750"/>
            <a:ext cx="5715000" cy="487680"/>
          </a:xfrm>
        </p:spPr>
        <p:txBody>
          <a:bodyPr wrap="square" rtlCol="0" lIns="0" tIns="0" rIns="0" bIns="0" anchor="t"/>
          <a:lstStyle/>
          <a:p>
            <a:pPr algn="l"/>
            <a:r>
              <a:rPr sz="3200" b="1">
                <a:solidFill>
                  <a:srgbClr val="4A90D9"/>
                </a:solidFill>
                <a:latin typeface="PingFang SC"/>
                <a:ea typeface="PingFang SC"/>
              </a:rPr>
              <a:t>DNS 安全与隐私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94A8D89-4928-4EAF-A3F7-768548D624F8}"/>
              </a:ext>
            </a:extLst>
          </p:cNvPr>
          <p:cNvSpPr/>
          <p:nvPr/>
        </p:nvSpPr>
        <p:spPr>
          <a:xfrm>
            <a:off x="476250" y="952500"/>
            <a:ext cx="3429000" cy="247650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4A90D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B8936DA6-C70D-4945-946B-FB81C33194C4}"/>
              </a:ext>
            </a:extLst>
          </p:cNvPr>
          <p:cNvSpPr txBox="1"/>
          <p:nvPr/>
        </p:nvSpPr>
        <p:spPr>
          <a:xfrm>
            <a:off x="666750" y="1095375"/>
            <a:ext cx="3048000" cy="21907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00D9A3"/>
                </a:solidFill>
                <a:latin typeface="PingFang SC"/>
                <a:ea typeface="PingFang SC"/>
              </a:rPr>
              <a:t>DNS over HTTPS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加密 DNS 查询请求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通过 HTTPS 隧道传输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防止中间人篡改解析结果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B40A6D2-1978-4A99-B2E8-6B0B008F0352}"/>
              </a:ext>
            </a:extLst>
          </p:cNvPr>
          <p:cNvSpPr/>
          <p:nvPr/>
        </p:nvSpPr>
        <p:spPr>
          <a:xfrm>
            <a:off x="4381500" y="952500"/>
            <a:ext cx="3429000" cy="247650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4A90D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25526130-C5BB-4525-80FD-867FA373D806}"/>
              </a:ext>
            </a:extLst>
          </p:cNvPr>
          <p:cNvSpPr txBox="1"/>
          <p:nvPr/>
        </p:nvSpPr>
        <p:spPr>
          <a:xfrm>
            <a:off x="4572000" y="1095375"/>
            <a:ext cx="3048000" cy="21907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00D9A3"/>
                </a:solidFill>
                <a:latin typeface="PingFang SC"/>
                <a:ea typeface="PingFang SC"/>
              </a:rPr>
              <a:t>DNS over TLS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传输层 TLS 加密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专用端口 853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与操作系统深度集成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69394FF1-256A-495D-BA87-0A9D89840621}"/>
              </a:ext>
            </a:extLst>
          </p:cNvPr>
          <p:cNvSpPr/>
          <p:nvPr/>
        </p:nvSpPr>
        <p:spPr>
          <a:xfrm>
            <a:off x="8286750" y="952500"/>
            <a:ext cx="3429000" cy="247650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00D9A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8B3B2D6-CA89-4F68-87DA-804418BADD4C}"/>
              </a:ext>
            </a:extLst>
          </p:cNvPr>
          <p:cNvSpPr txBox="1"/>
          <p:nvPr/>
        </p:nvSpPr>
        <p:spPr>
          <a:xfrm>
            <a:off x="8477250" y="1095375"/>
            <a:ext cx="3048000" cy="21907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00D9A3"/>
                </a:solidFill>
                <a:latin typeface="PingFang SC"/>
                <a:ea typeface="PingFang SC"/>
              </a:rPr>
              <a:t>iCloud Private Relay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双重跳转匿名化架构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Apple 中继 + 第三方中继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任何单点无法同时获取身份与内容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EEB70735-0815-4935-BBEA-FF1CEFD4EC2D}"/>
              </a:ext>
            </a:extLst>
          </p:cNvPr>
          <p:cNvSpPr/>
          <p:nvPr/>
        </p:nvSpPr>
        <p:spPr>
          <a:xfrm>
            <a:off x="476250" y="3810000"/>
            <a:ext cx="11239500" cy="228600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00D9A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E90FC2D-1E4C-4885-9D1F-22003476FE3B}"/>
              </a:ext>
            </a:extLst>
          </p:cNvPr>
          <p:cNvSpPr txBox="1"/>
          <p:nvPr/>
        </p:nvSpPr>
        <p:spPr>
          <a:xfrm>
            <a:off x="666750" y="3952875"/>
            <a:ext cx="10858500" cy="20002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00D9A3"/>
                </a:solidFill>
                <a:latin typeface="PingFang SC"/>
                <a:ea typeface="PingFang SC"/>
              </a:rPr>
              <a:t>DNS 泄露防护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阻止明文 DNS 查询外泄，VPN 连接时强制加密 DNS 通道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防止 ISP 或网络监控者通过 DNS 日志推断用户访问行为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9734F71D-1503-4CED-B039-D9461097C7F0}"/>
              </a:ext>
            </a:extLst>
          </p:cNvPr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4A90D9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F25115C-656E-412C-B372-96517A2FD604}"/>
              </a:ext>
            </a:extLst>
          </p:cNvPr>
          <p:cNvSpPr txBox="1"/>
          <p:nvPr/>
        </p:nvSpPr>
        <p:spPr>
          <a:xfrm>
            <a:off x="762000" y="285750"/>
            <a:ext cx="5715000" cy="487680"/>
          </a:xfrm>
        </p:spPr>
        <p:txBody>
          <a:bodyPr wrap="square" rtlCol="0" lIns="0" tIns="0" rIns="0" bIns="0" anchor="t"/>
          <a:lstStyle/>
          <a:p>
            <a:pPr algn="l"/>
            <a:r>
              <a:rPr sz="3200" b="1">
                <a:solidFill>
                  <a:srgbClr val="4A90D9"/>
                </a:solidFill>
                <a:latin typeface="PingFang SC"/>
                <a:ea typeface="PingFang SC"/>
              </a:rPr>
              <a:t>位置隐私保护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A34E020-0701-4410-9B08-515F425CA0A8}"/>
              </a:ext>
            </a:extLst>
          </p:cNvPr>
          <p:cNvSpPr/>
          <p:nvPr/>
        </p:nvSpPr>
        <p:spPr>
          <a:xfrm>
            <a:off x="476250" y="952500"/>
            <a:ext cx="3429000" cy="247650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4A90D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66689CD9-A9A3-469E-AD8D-5D8666715728}"/>
              </a:ext>
            </a:extLst>
          </p:cNvPr>
          <p:cNvSpPr txBox="1"/>
          <p:nvPr/>
        </p:nvSpPr>
        <p:spPr>
          <a:xfrm>
            <a:off x="666750" y="1095375"/>
            <a:ext cx="3048000" cy="21907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00D9A3"/>
                </a:solidFill>
                <a:latin typeface="PingFang SC"/>
                <a:ea typeface="PingFang SC"/>
              </a:rPr>
              <a:t>精确 vs 大致位置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用户可控制位置精度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大致位置仅返回城市级别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天气应用无需精确坐标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D5F11B6-46CF-438F-85ED-668DA4E6B1FE}"/>
              </a:ext>
            </a:extLst>
          </p:cNvPr>
          <p:cNvSpPr/>
          <p:nvPr/>
        </p:nvSpPr>
        <p:spPr>
          <a:xfrm>
            <a:off x="4381500" y="952500"/>
            <a:ext cx="3429000" cy="247650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4A90D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F8DE1131-E52A-4241-B9DA-AE884F22CA35}"/>
              </a:ext>
            </a:extLst>
          </p:cNvPr>
          <p:cNvSpPr txBox="1"/>
          <p:nvPr/>
        </p:nvSpPr>
        <p:spPr>
          <a:xfrm>
            <a:off x="4572000" y="1095375"/>
            <a:ext cx="3048000" cy="21907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00D9A3"/>
                </a:solidFill>
                <a:latin typeface="PingFang SC"/>
                <a:ea typeface="PingFang SC"/>
              </a:rPr>
              <a:t>私有 Wi-Fi 地址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每个网络使用独立 MAC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防止跨网络 MAC 追踪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定期轮换地址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175B0108-C2F7-4AFF-9FB8-604392993D66}"/>
              </a:ext>
            </a:extLst>
          </p:cNvPr>
          <p:cNvSpPr/>
          <p:nvPr/>
        </p:nvSpPr>
        <p:spPr>
          <a:xfrm>
            <a:off x="8286750" y="952500"/>
            <a:ext cx="3429000" cy="247650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00D9A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040B4108-9004-4DB2-AD4D-754EB18DB571}"/>
              </a:ext>
            </a:extLst>
          </p:cNvPr>
          <p:cNvSpPr txBox="1"/>
          <p:nvPr/>
        </p:nvSpPr>
        <p:spPr>
          <a:xfrm>
            <a:off x="8477250" y="1095375"/>
            <a:ext cx="3048000" cy="21907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00D9A3"/>
                </a:solidFill>
                <a:latin typeface="PingFang SC"/>
                <a:ea typeface="PingFang SC"/>
              </a:rPr>
              <a:t>限制 IP 地址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隐藏真实地理位置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Private Relay 中继流量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防止 IP 泄露位置信息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04C30612-DA05-4F3B-B397-419E455D7A5D}"/>
              </a:ext>
            </a:extLst>
          </p:cNvPr>
          <p:cNvSpPr/>
          <p:nvPr/>
        </p:nvSpPr>
        <p:spPr>
          <a:xfrm>
            <a:off x="476250" y="3810000"/>
            <a:ext cx="11239500" cy="228600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00D9A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E03150A-A95A-4C5A-92A0-3BF6D8B0A68F}"/>
              </a:ext>
            </a:extLst>
          </p:cNvPr>
          <p:cNvSpPr txBox="1"/>
          <p:nvPr/>
        </p:nvSpPr>
        <p:spPr>
          <a:xfrm>
            <a:off x="666750" y="3952875"/>
            <a:ext cx="10858500" cy="20002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00D9A3"/>
                </a:solidFill>
                <a:latin typeface="PingFang SC"/>
                <a:ea typeface="PingFang SC"/>
              </a:rPr>
              <a:t>位置权限分级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始终允许 — 后台持续获取位置（地图导航）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使用时允许 — 仅前台应用可访问（社交媒体）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从不 — 完全禁止位置访问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1943C697-BD9E-4962-B36E-5B2A48A99AC2}"/>
              </a:ext>
            </a:extLst>
          </p:cNvPr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4A90D9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8CEE062-5F87-4763-9D5F-2F9629A0F17E}"/>
              </a:ext>
            </a:extLst>
          </p:cNvPr>
          <p:cNvSpPr txBox="1"/>
          <p:nvPr/>
        </p:nvSpPr>
        <p:spPr>
          <a:xfrm>
            <a:off x="762000" y="285750"/>
            <a:ext cx="5715000" cy="487680"/>
          </a:xfrm>
        </p:spPr>
        <p:txBody>
          <a:bodyPr wrap="square" rtlCol="0" lIns="0" tIns="0" rIns="0" bIns="0" anchor="t"/>
          <a:lstStyle/>
          <a:p>
            <a:pPr algn="l"/>
            <a:r>
              <a:rPr sz="3200" b="1">
                <a:solidFill>
                  <a:srgbClr val="4A90D9"/>
                </a:solidFill>
                <a:latin typeface="PingFang SC"/>
                <a:ea typeface="PingFang SC"/>
              </a:rPr>
              <a:t>应用追踪防护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CCAA68C4-22C5-4411-9EE8-03A56A8832E8}"/>
              </a:ext>
            </a:extLst>
          </p:cNvPr>
          <p:cNvSpPr/>
          <p:nvPr/>
        </p:nvSpPr>
        <p:spPr>
          <a:xfrm>
            <a:off x="476250" y="952500"/>
            <a:ext cx="3429000" cy="247650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4A90D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678FF2C5-7C28-4557-B441-BC2368935FCA}"/>
              </a:ext>
            </a:extLst>
          </p:cNvPr>
          <p:cNvSpPr txBox="1"/>
          <p:nvPr/>
        </p:nvSpPr>
        <p:spPr>
          <a:xfrm>
            <a:off x="666750" y="1095375"/>
            <a:ext cx="3048000" cy="21907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00D9A3"/>
                </a:solidFill>
                <a:latin typeface="PingFang SC"/>
                <a:ea typeface="PingFang SC"/>
              </a:rPr>
              <a:t>ITP 智能防追踪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Intelligent Tracking Prevention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阻止 Cookie 跨站追踪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机器学习识别追踪器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16B47D-D312-4484-9EB5-0CF066575A30}"/>
              </a:ext>
            </a:extLst>
          </p:cNvPr>
          <p:cNvSpPr/>
          <p:nvPr/>
        </p:nvSpPr>
        <p:spPr>
          <a:xfrm>
            <a:off x="4381500" y="952500"/>
            <a:ext cx="3429000" cy="247650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4A90D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94C2958-80EA-4522-B24F-AE25E3CB4F20}"/>
              </a:ext>
            </a:extLst>
          </p:cNvPr>
          <p:cNvSpPr txBox="1"/>
          <p:nvPr/>
        </p:nvSpPr>
        <p:spPr>
          <a:xfrm>
            <a:off x="4572000" y="1095375"/>
            <a:ext cx="3048000" cy="21907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00D9A3"/>
                </a:solidFill>
                <a:latin typeface="PingFang SC"/>
                <a:ea typeface="PingFang SC"/>
              </a:rPr>
              <a:t>邮件隐私保护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隐藏收件人 IP 地址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阻止远程内容自动加载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防止邮件像素追踪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D4402224-BF77-4235-859A-6F71AE000CD2}"/>
              </a:ext>
            </a:extLst>
          </p:cNvPr>
          <p:cNvSpPr/>
          <p:nvPr/>
        </p:nvSpPr>
        <p:spPr>
          <a:xfrm>
            <a:off x="8286750" y="952500"/>
            <a:ext cx="3429000" cy="247650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00D9A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BC254169-1197-4951-BB22-66F4FF8DF5B4}"/>
              </a:ext>
            </a:extLst>
          </p:cNvPr>
          <p:cNvSpPr txBox="1"/>
          <p:nvPr/>
        </p:nvSpPr>
        <p:spPr>
          <a:xfrm>
            <a:off x="8477250" y="1095375"/>
            <a:ext cx="3048000" cy="21907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00D9A3"/>
                </a:solidFill>
                <a:latin typeface="PingFang SC"/>
                <a:ea typeface="PingFang SC"/>
              </a:rPr>
              <a:t>Safari 隐私浏览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私有浏览模式增强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锁定了链接防止预加载泄露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独立 Cookie 存储与会话隔离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306B2916-7FBA-44B9-8E56-973D19D1B294}"/>
              </a:ext>
            </a:extLst>
          </p:cNvPr>
          <p:cNvSpPr/>
          <p:nvPr/>
        </p:nvSpPr>
        <p:spPr>
          <a:xfrm>
            <a:off x="476250" y="3810000"/>
            <a:ext cx="11239500" cy="228600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00D9A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DC977312-292D-4C2D-AD14-C8BA4D228D57}"/>
              </a:ext>
            </a:extLst>
          </p:cNvPr>
          <p:cNvSpPr txBox="1"/>
          <p:nvPr/>
        </p:nvSpPr>
        <p:spPr>
          <a:xfrm>
            <a:off x="666750" y="3952875"/>
            <a:ext cx="10858500" cy="20002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00D9A3"/>
                </a:solidFill>
                <a:latin typeface="PingFang SC"/>
                <a:ea typeface="PingFang SC"/>
              </a:rPr>
              <a:t>跨应用追踪隔离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指纹识别防护：阻止通过设备特征识别用户身份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应用间数据隔离：每个应用的存储、Cookie 和网络状态相互独立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D6CED252-00AE-4C4C-A7FC-D198E6E6E432}"/>
              </a:ext>
            </a:extLst>
          </p:cNvPr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4A90D9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98B869F-62B8-46DC-AFBD-D8BEA6D30622}"/>
              </a:ext>
            </a:extLst>
          </p:cNvPr>
          <p:cNvSpPr txBox="1"/>
          <p:nvPr/>
        </p:nvSpPr>
        <p:spPr>
          <a:xfrm>
            <a:off x="762000" y="285750"/>
            <a:ext cx="6667500" cy="487680"/>
          </a:xfrm>
        </p:spPr>
        <p:txBody>
          <a:bodyPr wrap="square" rtlCol="0" lIns="0" tIns="0" rIns="0" bIns="0" anchor="t"/>
          <a:lstStyle/>
          <a:p>
            <a:pPr algn="l"/>
            <a:r>
              <a:rPr sz="3200" b="1">
                <a:solidFill>
                  <a:srgbClr val="4A90D9"/>
                </a:solidFill>
                <a:latin typeface="PingFang SC"/>
                <a:ea typeface="PingFang SC"/>
              </a:rPr>
              <a:t>隐私保护最佳实践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48B5347F-BB9D-4EE9-B412-660B5935D141}"/>
              </a:ext>
            </a:extLst>
          </p:cNvPr>
          <p:cNvSpPr/>
          <p:nvPr/>
        </p:nvSpPr>
        <p:spPr>
          <a:xfrm>
            <a:off x="476250" y="952500"/>
            <a:ext cx="5334000" cy="247650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4A90D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F2C26443-87B0-447A-86F3-6451B679BE38}"/>
              </a:ext>
            </a:extLst>
          </p:cNvPr>
          <p:cNvSpPr txBox="1"/>
          <p:nvPr/>
        </p:nvSpPr>
        <p:spPr>
          <a:xfrm>
            <a:off x="666750" y="1095375"/>
            <a:ext cx="4953000" cy="21907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00D9A3"/>
                </a:solidFill>
                <a:latin typeface="PingFang SC"/>
                <a:ea typeface="PingFang SC"/>
              </a:rPr>
              <a:t>最小权限原则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仅授予应用必要的权限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拒绝不必要的相机、麦克风、位置请求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定期审查已授权的权限列表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4D052910-5B65-429E-B3C5-81E033095743}"/>
              </a:ext>
            </a:extLst>
          </p:cNvPr>
          <p:cNvSpPr/>
          <p:nvPr/>
        </p:nvSpPr>
        <p:spPr>
          <a:xfrm>
            <a:off x="6381750" y="952500"/>
            <a:ext cx="5334000" cy="247650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4A90D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7556E3E-3D86-4EF8-8AE8-3734E2264367}"/>
              </a:ext>
            </a:extLst>
          </p:cNvPr>
          <p:cNvSpPr txBox="1"/>
          <p:nvPr/>
        </p:nvSpPr>
        <p:spPr>
          <a:xfrm>
            <a:off x="6572250" y="1095375"/>
            <a:ext cx="4953000" cy="21907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00D9A3"/>
                </a:solidFill>
                <a:latin typeface="PingFang SC"/>
                <a:ea typeface="PingFang SC"/>
              </a:rPr>
              <a:t>账户安全加固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启用双重认证 (2FA)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开启高级数据保护（端到端加密）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使用强密码或生物识别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24B85C88-D88E-4E63-A19D-B52649C26AC2}"/>
              </a:ext>
            </a:extLst>
          </p:cNvPr>
          <p:cNvSpPr/>
          <p:nvPr/>
        </p:nvSpPr>
        <p:spPr>
          <a:xfrm>
            <a:off x="476250" y="3810000"/>
            <a:ext cx="5334000" cy="247650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00D9A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6C7183E1-104E-45BA-B883-209AD970DA5B}"/>
              </a:ext>
            </a:extLst>
          </p:cNvPr>
          <p:cNvSpPr txBox="1"/>
          <p:nvPr/>
        </p:nvSpPr>
        <p:spPr>
          <a:xfrm>
            <a:off x="666750" y="3952875"/>
            <a:ext cx="4953000" cy="21907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00D9A3"/>
                </a:solidFill>
                <a:latin typeface="PingFang SC"/>
                <a:ea typeface="PingFang SC"/>
              </a:rPr>
              <a:t>网络隐私保护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启用 iCloud Private Relay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使用加密 DNS (DoH/DoT)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公共 Wi-Fi 时启用 VPN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3C824D27-747E-479A-8509-C8DDF8E9F69E}"/>
              </a:ext>
            </a:extLst>
          </p:cNvPr>
          <p:cNvSpPr/>
          <p:nvPr/>
        </p:nvSpPr>
        <p:spPr>
          <a:xfrm>
            <a:off x="6381750" y="3810000"/>
            <a:ext cx="5334000" cy="247650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00D9A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22DC1660-28B7-4C83-8A2D-CB6797A10F19}"/>
              </a:ext>
            </a:extLst>
          </p:cNvPr>
          <p:cNvSpPr txBox="1"/>
          <p:nvPr/>
        </p:nvSpPr>
        <p:spPr>
          <a:xfrm>
            <a:off x="6572250" y="3952875"/>
            <a:ext cx="4953000" cy="21907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00D9A3"/>
                </a:solidFill>
                <a:latin typeface="PingFang SC"/>
                <a:ea typeface="PingFang SC"/>
              </a:rPr>
              <a:t>追踪防护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拒绝应用追踪请求 (ATT)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使用 Safari ITP 模式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定期清除浏览器数据与 Cookie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E9DF5C34-1848-4F3A-8173-E8377002D5F6}"/>
              </a:ext>
            </a:extLst>
          </p:cNvPr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4A90D9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F4E38F3-3F9B-4B05-96B1-E849D510B27E}"/>
              </a:ext>
            </a:extLst>
          </p:cNvPr>
          <p:cNvSpPr txBox="1"/>
          <p:nvPr/>
        </p:nvSpPr>
        <p:spPr>
          <a:xfrm>
            <a:off x="762000" y="285750"/>
            <a:ext cx="6667500" cy="487680"/>
          </a:xfrm>
        </p:spPr>
        <p:txBody>
          <a:bodyPr wrap="square" rtlCol="0" lIns="0" tIns="0" rIns="0" bIns="0" anchor="t"/>
          <a:lstStyle/>
          <a:p>
            <a:pPr algn="l"/>
            <a:r>
              <a:rPr sz="3200" b="1">
                <a:solidFill>
                  <a:srgbClr val="4A90D9"/>
                </a:solidFill>
                <a:latin typeface="PingFang SC"/>
                <a:ea typeface="PingFang SC"/>
              </a:rPr>
              <a:t>漏洞案例与 CVE 索引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490D89E1-D467-4FAA-A123-8420412C97CB}"/>
              </a:ext>
            </a:extLst>
          </p:cNvPr>
          <p:cNvSpPr/>
          <p:nvPr/>
        </p:nvSpPr>
        <p:spPr>
          <a:xfrm>
            <a:off x="476250" y="952500"/>
            <a:ext cx="11239500" cy="123825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4A90D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2AB2B8A-2ABE-4164-B329-91C97F2188FF}"/>
              </a:ext>
            </a:extLst>
          </p:cNvPr>
          <p:cNvSpPr txBox="1"/>
          <p:nvPr/>
        </p:nvSpPr>
        <p:spPr>
          <a:xfrm>
            <a:off x="666750" y="1095375"/>
            <a:ext cx="10858500" cy="95250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0D9A3"/>
                </a:solidFill>
                <a:latin typeface="PingFang SC"/>
                <a:ea typeface="PingFang SC"/>
              </a:rPr>
              <a:t>CVE-2022-22594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WebKit 内存损坏导致隐私数据泄露，攻击者可通过恶意网页读取浏览器存储的敏感信息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129FCCA4-928E-4822-858D-A32D2BA69F35}"/>
              </a:ext>
            </a:extLst>
          </p:cNvPr>
          <p:cNvSpPr/>
          <p:nvPr/>
        </p:nvSpPr>
        <p:spPr>
          <a:xfrm>
            <a:off x="476250" y="2381250"/>
            <a:ext cx="11239500" cy="123825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4A90D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A8F192C0-4382-4337-BA47-2227F9C6CE80}"/>
              </a:ext>
            </a:extLst>
          </p:cNvPr>
          <p:cNvSpPr txBox="1"/>
          <p:nvPr/>
        </p:nvSpPr>
        <p:spPr>
          <a:xfrm>
            <a:off x="666750" y="2524125"/>
            <a:ext cx="10858500" cy="95250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0D9A3"/>
                </a:solidFill>
                <a:latin typeface="PingFang SC"/>
                <a:ea typeface="PingFang SC"/>
              </a:rPr>
              <a:t>CVE-2023-38681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Siri 权限绕过漏洞，攻击者可通过语音指令绕过屏幕锁定访问应用数据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FAD7A74-C38A-481A-ABCA-EACBB22D0DD0}"/>
              </a:ext>
            </a:extLst>
          </p:cNvPr>
          <p:cNvSpPr/>
          <p:nvPr/>
        </p:nvSpPr>
        <p:spPr>
          <a:xfrm>
            <a:off x="476250" y="3810000"/>
            <a:ext cx="11239500" cy="123825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4A90D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FB073C7-86E1-480B-AC6F-8387E34041C7}"/>
              </a:ext>
            </a:extLst>
          </p:cNvPr>
          <p:cNvSpPr txBox="1"/>
          <p:nvPr/>
        </p:nvSpPr>
        <p:spPr>
          <a:xfrm>
            <a:off x="666750" y="3952875"/>
            <a:ext cx="10858500" cy="95250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0D9A3"/>
                </a:solidFill>
                <a:latin typeface="PingFang SC"/>
                <a:ea typeface="PingFang SC"/>
              </a:rPr>
              <a:t>CVE-2024-23222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WebKit 跨站内容泄露，允许恶意网站读取其他网站的敏感数据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081C0451-3AE4-4AAA-8BE6-0622C8725335}"/>
              </a:ext>
            </a:extLst>
          </p:cNvPr>
          <p:cNvSpPr/>
          <p:nvPr/>
        </p:nvSpPr>
        <p:spPr>
          <a:xfrm>
            <a:off x="476250" y="5238750"/>
            <a:ext cx="11239500" cy="95250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00D9A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27E643D0-EE2F-4413-9D26-179AA9F80AF0}"/>
              </a:ext>
            </a:extLst>
          </p:cNvPr>
          <p:cNvSpPr txBox="1"/>
          <p:nvPr/>
        </p:nvSpPr>
        <p:spPr>
          <a:xfrm>
            <a:off x="666750" y="5381625"/>
            <a:ext cx="10858500" cy="666750"/>
          </a:xfrm>
        </p:spPr>
        <p:txBody>
          <a:bodyPr wrap="square" rtlCol="0" lIns="0" tIns="0" rIns="0" bIns="0" anchor="t"/>
          <a:lstStyle/>
          <a:p>
            <a:pPr algn="l"/>
            <a:r>
              <a:rPr sz="1400">
                <a:solidFill>
                  <a:srgbClr val="8899AA"/>
                </a:solidFill>
                <a:latin typeface="PingFang SC"/>
                <a:ea typeface="PingFang SC"/>
              </a:rPr>
              <a:t>安全研究推动隐私架构持续演进 — 每个 CVE 修复都增强了系统防护能力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54C692B0-CCE7-4A78-BB9B-52FCE2ED1650}"/>
              </a:ext>
            </a:extLst>
          </p:cNvPr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4A90D9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625C8ED8-C3CB-41A3-8AFE-9BBBF399C59B}"/>
              </a:ext>
            </a:extLst>
          </p:cNvPr>
          <p:cNvSpPr/>
          <p:nvPr/>
        </p:nvSpPr>
        <p:spPr>
          <a:xfrm>
            <a:off x="476250" y="762000"/>
            <a:ext cx="11239500" cy="1905000"/>
          </a:xfrm>
          <a:prstGeom prst="roundRect">
            <a:avLst/>
          </a:prstGeom>
          <a:solidFill>
            <a:srgbClr val="0F2A44"/>
          </a:solidFill>
          <a:ln w="25400">
            <a:solidFill>
              <a:srgbClr val="4A90D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B6E92F40-FF9B-4217-AF82-A7B7BA46A3A0}"/>
              </a:ext>
            </a:extLst>
          </p:cNvPr>
          <p:cNvSpPr txBox="1"/>
          <p:nvPr/>
        </p:nvSpPr>
        <p:spPr>
          <a:xfrm>
            <a:off x="952500" y="952500"/>
            <a:ext cx="10287000" cy="571500"/>
          </a:xfrm>
        </p:spPr>
        <p:txBody>
          <a:bodyPr wrap="square" rtlCol="0" lIns="0" tIns="0" rIns="0" bIns="0" anchor="t"/>
          <a:lstStyle/>
          <a:p>
            <a:pPr algn="ctr"/>
            <a:r>
              <a:rPr sz="3600" b="1">
                <a:solidFill>
                  <a:srgbClr val="4A90D9"/>
                </a:solidFill>
                <a:latin typeface="PingFang SC"/>
                <a:ea typeface="PingFang SC"/>
              </a:rPr>
              <a:t>隐私是基本权利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C9FE8B60-20EA-4D1C-9A41-01177B2EF5BB}"/>
              </a:ext>
            </a:extLst>
          </p:cNvPr>
          <p:cNvSpPr txBox="1"/>
          <p:nvPr/>
        </p:nvSpPr>
        <p:spPr>
          <a:xfrm>
            <a:off x="952500" y="1619250"/>
            <a:ext cx="10287000" cy="762000"/>
          </a:xfrm>
        </p:spPr>
        <p:txBody>
          <a:bodyPr wrap="square" rtlCol="0" lIns="0" tIns="0" rIns="0" bIns="0" anchor="t"/>
          <a:lstStyle/>
          <a:p>
            <a:pPr algn="ctr"/>
            <a:r>
              <a:rPr sz="1800">
                <a:solidFill>
                  <a:srgbClr val="E8E8E8"/>
                </a:solidFill>
                <a:latin typeface="PingFang SC"/>
                <a:ea typeface="PingFang SC"/>
              </a:rPr>
              <a:t>iOS 提供系统级隐私保护，从硬件到应用层全面覆盖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52D6227-00F2-446A-B170-0728C79E68AA}"/>
              </a:ext>
            </a:extLst>
          </p:cNvPr>
          <p:cNvSpPr/>
          <p:nvPr/>
        </p:nvSpPr>
        <p:spPr>
          <a:xfrm>
            <a:off x="476250" y="3048000"/>
            <a:ext cx="5334000" cy="123825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00D9A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9EB69BDB-E5EA-46A4-844D-B51CFF7108B3}"/>
              </a:ext>
            </a:extLst>
          </p:cNvPr>
          <p:cNvSpPr txBox="1"/>
          <p:nvPr/>
        </p:nvSpPr>
        <p:spPr>
          <a:xfrm>
            <a:off x="666750" y="3190875"/>
            <a:ext cx="4953000" cy="95250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0D9A3"/>
                </a:solidFill>
                <a:latin typeface="PingFang SC"/>
                <a:ea typeface="PingFang SC"/>
              </a:rPr>
              <a:t>理解权限模型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TCC 框架与数据保护机制是隐私安全的基础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2DDC56A8-7C93-4DEF-9320-73D7BD5BFE3B}"/>
              </a:ext>
            </a:extLst>
          </p:cNvPr>
          <p:cNvSpPr/>
          <p:nvPr/>
        </p:nvSpPr>
        <p:spPr>
          <a:xfrm>
            <a:off x="6381750" y="3048000"/>
            <a:ext cx="5334000" cy="123825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00D9A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21D92D8-3847-4803-8D8A-D8CEC63FC471}"/>
              </a:ext>
            </a:extLst>
          </p:cNvPr>
          <p:cNvSpPr txBox="1"/>
          <p:nvPr/>
        </p:nvSpPr>
        <p:spPr>
          <a:xfrm>
            <a:off x="6572250" y="3190875"/>
            <a:ext cx="4953000" cy="95250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0D9A3"/>
                </a:solidFill>
                <a:latin typeface="PingFang SC"/>
                <a:ea typeface="PingFang SC"/>
              </a:rPr>
              <a:t>善用防护工具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代理、VPN、Private Relay 构建多层网络防护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3BED8891-05B8-4B60-B4B4-A9F023344728}"/>
              </a:ext>
            </a:extLst>
          </p:cNvPr>
          <p:cNvSpPr/>
          <p:nvPr/>
        </p:nvSpPr>
        <p:spPr>
          <a:xfrm>
            <a:off x="476250" y="4572000"/>
            <a:ext cx="5334000" cy="123825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00D9A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8E06318-0754-4260-9D79-7F47F1AC8C87}"/>
              </a:ext>
            </a:extLst>
          </p:cNvPr>
          <p:cNvSpPr txBox="1"/>
          <p:nvPr/>
        </p:nvSpPr>
        <p:spPr>
          <a:xfrm>
            <a:off x="666750" y="4714875"/>
            <a:ext cx="4953000" cy="95250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0D9A3"/>
                </a:solidFill>
                <a:latin typeface="PingFang SC"/>
                <a:ea typeface="PingFang SC"/>
              </a:rPr>
              <a:t>持续安全意识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关注安全更新与隐私政策变化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15605F37-73F3-4760-8E0C-6A8807484104}"/>
              </a:ext>
            </a:extLst>
          </p:cNvPr>
          <p:cNvSpPr/>
          <p:nvPr/>
        </p:nvSpPr>
        <p:spPr>
          <a:xfrm>
            <a:off x="6381750" y="4572000"/>
            <a:ext cx="5334000" cy="1238250"/>
          </a:xfrm>
          <a:prstGeom prst="roundRect">
            <a:avLst/>
          </a:prstGeom>
          <a:solidFill>
            <a:srgbClr val="0F2A44"/>
          </a:solidFill>
          <a:ln w="12700">
            <a:solidFill>
              <a:srgbClr val="00D9A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C837E474-A7AB-4B66-AD1E-D1F153C0DA65}"/>
              </a:ext>
            </a:extLst>
          </p:cNvPr>
          <p:cNvSpPr txBox="1"/>
          <p:nvPr/>
        </p:nvSpPr>
        <p:spPr>
          <a:xfrm>
            <a:off x="6572250" y="4714875"/>
            <a:ext cx="4953000" cy="95250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0D9A3"/>
                </a:solidFill>
                <a:latin typeface="PingFang SC"/>
                <a:ea typeface="PingFang SC"/>
              </a:rPr>
              <a:t>主动防御</a:t>
            </a:r>
          </a:p>
          <a:p>
            <a:pPr algn="l"/>
            <a:r>
              <a:rPr sz="1400">
                <a:solidFill>
                  <a:srgbClr val="E8E8E8"/>
                </a:solidFill>
                <a:latin typeface="PingFang SC"/>
                <a:ea typeface="PingFang SC"/>
              </a:rPr>
              <a:t>定期审查权限设置，最小化数据暴露面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